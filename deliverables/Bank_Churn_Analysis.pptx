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BANK CHURN  · 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Why Are Our Customers Leaving?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>
                <a:solidFill>
                  <a:srgbClr val="D7E0EC"/>
                </a:solidFill>
                <a:latin typeface="Calibri"/>
              </a:rPr>
              <a:t>A churn &amp; retention analysis of 10,000 retail-banking customers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63946"/>
                </a:solidFill>
                <a:latin typeface="Calibri"/>
              </a:rPr>
              <a:t>20.4% churn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E9C46A"/>
                </a:solidFill>
                <a:latin typeface="Calibri"/>
              </a:rPr>
              <a:t>€186M deposits at risk</a:t>
            </a:r>
            <a:r>
              <a:rPr sz="1800" b="0" i="0">
                <a:solidFill>
                  <a:srgbClr val="8D99AE"/>
                </a:solidFill>
                <a:latin typeface="Calibri"/>
              </a:rPr>
              <a:t>   · 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2,037 customers lost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B6C4D6"/>
                </a:solidFill>
                <a:latin typeface="Calibri"/>
              </a:rPr>
              <a:t>Data Analyst Program, Hebrew University of Jerusalem   |   Noy Levy, David Zeff, Danielle Ab, Sagi Gutin, Shira Meriash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Team &amp; Mentor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Presenters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773936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Noy Levy, David Zeff, Danielle Ab, Sagi Gutin, Shira Meriash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87168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Mentor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23744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[ add mentor name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5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1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73551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Bank Churn — 10,000 retail-banking customers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86783"/>
            <a:ext cx="2468880" cy="566928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59"/>
            <a:ext cx="246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023359"/>
            <a:ext cx="7680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Python (pandas) · cleaning &amp; analysis  |  Plotly · interactive dashboard  |  PowerPoint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Domain — Retail Banking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7665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Churn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a customer leaves the bank (closes their relationship). Our flag: Exited = 1.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Why it matters: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acquiring a new customer costs far more than keeping one — and a churned customer takes their deposits and fee income with them.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The base: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10,000 customers across France, Germany and Spain, with demographics, account balances, products held and activity.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3A5F"/>
                </a:solidFill>
                <a:latin typeface="Calibri"/>
              </a:rPr>
              <a:t>Our questions: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How many leave? WHO leaves, and WHY? And WHERE should the bank intervene first?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overall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704975"/>
            <a:ext cx="3749039" cy="390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WHAT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KPIs &amp; Success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CHURN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CFDAE8"/>
                </a:solidFill>
                <a:latin typeface="Calibri"/>
              </a:rPr>
              <a:t>PRIMARY · target ≤ 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1216" y="1508760"/>
            <a:ext cx="2139696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0944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2A9D8F"/>
                </a:solidFill>
                <a:latin typeface="Calibri"/>
              </a:rPr>
              <a:t>79.6%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656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RETENTION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keep &gt; 85%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75504" y="1508760"/>
            <a:ext cx="21396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2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E63946"/>
                </a:solidFill>
                <a:latin typeface="Calibri"/>
              </a:rPr>
              <a:t>€186M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BALANCE 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24% of deposits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79792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79792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19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52%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1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ACTIVE-MEMBER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engagement lever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1508760"/>
            <a:ext cx="2139696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1508760"/>
            <a:ext cx="2139696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93807" y="1709928"/>
            <a:ext cx="1920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1.53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2221991"/>
            <a:ext cx="19568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3A5F"/>
                </a:solidFill>
                <a:latin typeface="Calibri"/>
              </a:rPr>
              <a:t>PRODUCTS / CUSTOMER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78024"/>
            <a:ext cx="19568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8D99AE"/>
                </a:solidFill>
                <a:latin typeface="Calibri"/>
              </a:rPr>
              <a:t>51% single-product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383280"/>
            <a:ext cx="110642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Thought process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79476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Churn rate is the north-star metric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the single number that tells us whether we are winning or losing customers.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Balance at risk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translates churn into euros, so the business feels the impact (€186M ≈ a quarter of all deposits).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Active-member rate &amp; products-per-customer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are the levers we can actually pull — engagement and product fit drive retention.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Success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 = move churn from 20% → ≤15% and lift retention above 85% over the next year.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MESSY TO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Data Preparation &amp;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65836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Source: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one Excel workbook, two sheets (Customer_Info + Account_Info), joined on CustomerId.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Standardised geography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France was split across 'France/French/FRA' → unified.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Fixed types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stripped '€' from Balance &amp; EstimatedSalary (text→number); Yes/No → 1/0.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Removed duplicates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, imputed 3 missing ages (median), reconciled a duplicated Tenure column.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Filters/assumptions: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snapshot data (no time dimension); full customer base analysed, no sampling.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463040"/>
            <a:ext cx="4206240" cy="14173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463040"/>
            <a:ext cx="91440" cy="141732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1" y="1572768"/>
            <a:ext cx="3840479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Data-quality catch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'HasCrCard' was identical to 'IsActiveMember' for every row — a corrupted column. Detected and restored to authentic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10896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2461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Validation vs. published 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70332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3703320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10,000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105656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Missing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10565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0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507992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Churn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4507992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20.37%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491032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Geography mix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1032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match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312664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Total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531266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 i="0">
                <a:solidFill>
                  <a:srgbClr val="2A9D8F"/>
                </a:solidFill>
                <a:latin typeface="Calibri"/>
              </a:rPr>
              <a:t>€0.77bn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BI TOOL: PLOTLY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Dashboard — One Page, Six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928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929" y="1417320"/>
            <a:ext cx="4815381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1 — The Product Paradox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94360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41322"/>
            <a:ext cx="5760720" cy="35582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155448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2 products is the sweet spot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just 7.6% churn. These customers are engaged and sticky.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3–4 products = near-certain exit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— 83% and 100% churn. The 326 customers here are almost all gone.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Half the base (51%) holds a single product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and churns at 27.7%.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 i="0">
                <a:solidFill>
                  <a:srgbClr val="2A9D8F"/>
                </a:solidFill>
                <a:latin typeface="Calibri"/>
              </a:rPr>
              <a:t>▸ </a:t>
            </a:r>
            <a:r>
              <a:rPr sz="1450" b="1" i="0">
                <a:solidFill>
                  <a:srgbClr val="1F3A5F"/>
                </a:solidFill>
                <a:latin typeface="Calibri"/>
              </a:rPr>
              <a:t>Read: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piling products onto unhappy customers backfires; the goal is the right second product, not more products.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507492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0" y="5074920"/>
            <a:ext cx="91440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5184648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1 → 2 products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moving single-product customers to two is the biggest retention prize.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2 — Germany &amp; the Deposit Drain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ge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1006"/>
            <a:ext cx="5440680" cy="33587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balance_at_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0634"/>
            <a:ext cx="5349240" cy="329953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212080"/>
            <a:ext cx="11247120" cy="10515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212080"/>
            <a:ext cx="91440" cy="10515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321808"/>
            <a:ext cx="10881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Germany: 32% churn · €120k avg balance · €98M walking out the door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Germany churns at twice the rate of France &amp; Spain, yet holds ~2× the average balance — so it is both our biggest leak and our most valuable one. Priority market #1.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Insight 3 — Age &amp; Engagement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6235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4402"/>
            <a:ext cx="5440680" cy="336055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371600"/>
            <a:ext cx="553212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activity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17022"/>
            <a:ext cx="5440680" cy="22753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12064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120640"/>
            <a:ext cx="91440" cy="10972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230368"/>
            <a:ext cx="10881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E63946"/>
                </a:solidFill>
                <a:latin typeface="Calibri"/>
              </a:rPr>
              <a:t>2,521 customers are BOTH inactive and single-product — and 37% of them churn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Age 51–60 churns at 56%; inactive members at 27% (vs 14% active); women at 25% (vs 17%). The inactive + single-product overlap is the single most actionable at-risk segment.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Equally Useful — What Does NOT Drive Churn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Calibri"/>
              </a:rPr>
              <a:t>Three things the bank might expect to matter — but the data says don't: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Tenure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≈ 19–21% churn at every tenure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Loyalty length is flat — long-tenured customers leave just as often.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Credit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22% (poor) vs 19% (good)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Only a faint signal — not a useful targeting variable.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210312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59" y="2103120"/>
            <a:ext cx="3566160" cy="82296"/>
          </a:xfrm>
          <a:prstGeom prst="rect">
            <a:avLst/>
          </a:prstGeom>
          <a:solidFill>
            <a:srgbClr val="8D9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Has credit 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20.8% vs 20.2%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611880"/>
            <a:ext cx="3154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2B2B2B"/>
                </a:solidFill>
                <a:latin typeface="Calibri"/>
              </a:rPr>
              <a:t>No effect. (This is also where we caught the corrupted column.)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440680"/>
            <a:ext cx="91440" cy="7315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55040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 i="0">
                <a:solidFill>
                  <a:srgbClr val="2A9D8F"/>
                </a:solidFill>
                <a:latin typeface="Calibri"/>
              </a:rPr>
              <a:t>Focus the retention budget where it counts</a:t>
            </a:r>
          </a:p>
          <a:p>
            <a:pPr>
              <a:spcBef>
                <a:spcPts val="200"/>
              </a:spcBef>
            </a:pPr>
            <a:r>
              <a:rPr sz="1250" b="0" i="0">
                <a:solidFill>
                  <a:srgbClr val="2B2B2B"/>
                </a:solidFill>
                <a:latin typeface="Calibri"/>
              </a:rPr>
              <a:t>products, geography, age and engagement — not tenure, credit score or card ownership.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FROM INSIGHT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Recommendations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4173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71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Launch a Germany retention task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32% churn + high balances → review pricing, product fit and local service. Biggest single opportunity.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86584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408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Fix the multi-product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5234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Audit why 3–4-product customers leave (fees? mis-selling?) before any further cross-sell to them.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35584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1012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Move single-product customers to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21608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Targeted, value-led second product — 2 products is the 7.6%-churn sweet spot. Largest reachable group.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25112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7939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Re-activate the inactive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690872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Engagement campaign for the 2,521 inactive single-product customers churning at 37%.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94376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248656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1F3A5F"/>
                </a:solidFill>
                <a:latin typeface="Calibri"/>
              </a:rPr>
              <a:t>Protect the 45–60 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660136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B2B2B"/>
                </a:solidFill>
                <a:latin typeface="Calibri"/>
              </a:rPr>
              <a:t>Proactive relationship outreach for older, higher-churn, higher-balance customers (and women).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8D99AE"/>
                </a:solidFill>
                <a:latin typeface="Calibri"/>
              </a:rPr>
              <a:t>Bank Churn  ·  Data Analyst Program, Hebrew University of Jerusalem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5105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8D99A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4241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 in 5 customers leave — but the churn is concentrated and addressable.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Churn is driven by product fit, geography, age and engagement — not by tenure or credit history.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Germany, multi-product and inactive single-product customers are the clear priority segments.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 b="1" i="0">
                <a:solidFill>
                  <a:srgbClr val="2A9D8F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E3EAF2"/>
                </a:solidFill>
                <a:latin typeface="Calibri"/>
              </a:rPr>
              <a:t>Cutting churn from 20.4% to 15% would retain ~537 more customers each cycle and protect tens of €M in deposits.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715000"/>
            <a:ext cx="5120640" cy="384048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42432"/>
            <a:ext cx="51206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Target: churn ≤ 15%  ·  retention ≥ 85%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D7E0EC"/>
                </a:solidFill>
                <a:latin typeface="Calibri"/>
              </a:rPr>
              <a:t>Thank you  ·  Bank Churn — A Business 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8D99AE"/>
                </a:solidFill>
                <a:latin typeface="Calibri"/>
              </a:rPr>
              <a:t>Noy Levy, David Zeff, Danielle Ab, Sagi Gutin, Shira Meriash   ·   Data Analyst Program, Hebrew University of Jerusalem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