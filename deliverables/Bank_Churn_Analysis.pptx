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BANK CHURN  · 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Are Our Customers Leaving?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D7E0EC"/>
                </a:solidFill>
                <a:latin typeface="Calibri"/>
              </a:rPr>
              <a:t>A churn &amp; retention analysis of 10,000 retail-banking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20.4% churn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E9C46A"/>
                </a:solidFill>
                <a:latin typeface="Calibri"/>
              </a:rPr>
              <a:t>€186M deposits at risk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2,037 customers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B6C4D6"/>
                </a:solidFill>
                <a:latin typeface="Calibri"/>
              </a:rPr>
              <a:t>Data Analyst Program, Hebrew University of Jerusalem   |   David Zeff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Team &amp; Mentor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Presenter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73936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David Zeff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Group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23744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[ add teammate names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5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1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73551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[ add mentor name 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86783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23359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Bank Churn — 10,000 retail-banking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36592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73168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773168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Python (pandas) · cleaning &amp; analysis  |  Plotly · interactive dashboard  |  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Domain — Retail Banking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Churn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a customer leaves the bank (closes their relationship). Our flag: Exited = 1.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Why it matters: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acquiring a new customer costs far more than keeping one — and a churned customer takes their deposits and fee income with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The base: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10,000 customers across France, Germany and Spain, with demographics, account balances, products held and activity.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Our questions: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How many leave? WHO leaves, and WHY? And WHERE should the bank intervene first?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verall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04975"/>
            <a:ext cx="3749039" cy="390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CHURN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CFDAE8"/>
                </a:solidFill>
                <a:latin typeface="Calibri"/>
              </a:rPr>
              <a:t>PRIMARY · target ≤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6" y="1508760"/>
            <a:ext cx="2139696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2A9D8F"/>
                </a:solidFill>
                <a:latin typeface="Calibri"/>
              </a:rPr>
              <a:t>79.6%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RETENTION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keep &gt; 85%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75504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E63946"/>
                </a:solidFill>
                <a:latin typeface="Calibri"/>
              </a:rPr>
              <a:t>€186M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BALANCE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24% of deposits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79792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19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ACTIVE-MEMBER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engagement lever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93807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1.53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PRODUCTS /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51% single-product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3832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Thought process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79476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Churn rate is the north-star metric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the single number that tells us whether we are winning or losing customers.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Balance at risk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translates churn into euros, so the business feels the impact (€186M ≈ a quarter of all deposits).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Active-member rate &amp; products-per-customer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are the levers we can actually pull — engagement and product fit drive retention.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Success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= move churn from 20% → ≤15% and lift retention above 85% over the next year.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MESSY TO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 Preparation &amp;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Source: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one Excel workbook, two sheets (Customer_Info + Account_Info), joined on CustomerId.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Standardised geography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France was split across 'France/French/FRA' → unified.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Fixed types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stripped '€' from Balance &amp; EstimatedSalary (text→number); Yes/No → 1/0.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Removed duplicates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, imputed 3 missing ages (median), reconciled a duplicated Tenure column.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Filters/assumptions: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snapshot data (no time dimension); full customer base analysed, no sampling.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420624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463040"/>
            <a:ext cx="91440" cy="14173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72768"/>
            <a:ext cx="3840479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Data-quality catch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'HasCrCard' was identical to 'IsActiveMember' for every row — a corrupted column. Detected and restored to authentic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10896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2461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Validation vs. published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10,000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Missing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0565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0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50799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Churn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507992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20.37%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491032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Geography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1032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match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31266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Total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31266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€0.77bn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BI TOOL: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Dashboard — One Page, Six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928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929" y="1417320"/>
            <a:ext cx="4815381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1 — The Product Paradox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9436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1322"/>
            <a:ext cx="5760720" cy="3558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55448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2 products is the sweet spot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just 7.6% churn. These customers are engaged and sticky.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3–4 products = near-certain exit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83% and 100% churn. The 326 customers here are almost all gone.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Half the base (51%) holds a single product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and churns at 27.7%.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Read: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piling products onto unhappy customers backfires; the goal is the right second product, not more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7492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5074920"/>
            <a:ext cx="914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5184648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1 → 2 products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moving single-product customers to two is the biggest retention prize.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2 — Germany &amp; the Deposit Drain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1006"/>
            <a:ext cx="5440680" cy="33587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balance_a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0634"/>
            <a:ext cx="5349240" cy="32995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321808"/>
            <a:ext cx="10881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Germany: 32% churn · €120k avg balance · €98M walking out the door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Germany churns at twice the rate of France &amp; Spain, yet holds ~2× the average balance — so it is both our biggest leak and our most valuable one. Priority market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3 — Age &amp;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4402"/>
            <a:ext cx="5440680" cy="33605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activity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7022"/>
            <a:ext cx="5440680" cy="22753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230368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2,521 customers are BOTH inactive and single-product — and 37% of them churn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Age 51–60 churns at 56%; inactive members at 27% (vs 14% active); women at 25% (vs 17%). The inactive + single-product overlap is the single most actionable at-risk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Equally Useful — What Does NOT Drive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Three things the bank might expect to matter — but the data says don't: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Tenure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≈ 19–21% churn at every tenure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Loyalty length is flat — long-tenured customers leave just as often.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Credit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22% (poor) vs 19% (good)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Only a faint signal — not a useful targeting variable.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Has credit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20.8% vs 20.2%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No effect. (This is also where we caught the corrupted column.)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91440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55040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Focus the retention budget where it counts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products, geography, age and engagement — not tenure, credit score or card ownership.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INSIGHT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Launch a Germany retention task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32% churn + high balances → review pricing, product fit and local service. Biggest single opportunity.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86584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408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Fix the multi-product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5234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Audit why 3–4-product customers leave (fees? mis-selling?) before any further cross-sell to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012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Move single-product customers to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21608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Targeted, value-led second product — 2 products is the 7.6%-churn sweet spot. Largest reachable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25112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939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Re-activate the inactive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908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Engagement campaign for the 2,521 inactive single-product customers churning at 37%.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248656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Protect the 45–60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6601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Proactive relationship outreach for older, higher-churn, higher-balance customers (and women).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 in 5 customers leave — but the churn is concentrated and addressable.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Churn is driven by product fit, geography, age and engagement — not by tenure or credit history.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Germany, multi-product and inactive single-product customers are the clear priority segments.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Cutting churn from 20.4% to 15% would retain ~537 more customers each cycle and protect tens of €M in deposits.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15000"/>
            <a:ext cx="5120640" cy="384048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42432"/>
            <a:ext cx="5120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Target: churn ≤ 15%  ·  retention ≥ 85%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D7E0EC"/>
                </a:solidFill>
                <a:latin typeface="Calibri"/>
              </a:rPr>
              <a:t>Thank you  ·  Bank Churn —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D99AE"/>
                </a:solidFill>
                <a:latin typeface="Calibri"/>
              </a:rPr>
              <a:t>David Zeff   ·   Data Analyst Program, Hebrew University of Jerusalem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